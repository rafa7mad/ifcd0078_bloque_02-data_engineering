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afa7mad/IFCD0078_Bloque_02-Data_Engineering/tree/main/Proyecto_Final_CicloNov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694944"/>
            <a:ext cx="1280160" cy="82296"/>
          </a:xfrm>
          <a:prstGeom prst="rect">
            <a:avLst/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1005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21792" y="19019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C6E2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Warehouse y Sales Dashboard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 · Data Engineering &amp; Business Intelligence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867912"/>
            <a:ext cx="1828800" cy="393192"/>
          </a:xfrm>
          <a:prstGeom prst="roundRect">
            <a:avLst>
              <a:gd name="adj" fmla="val 46512"/>
            </a:avLst>
          </a:prstGeom>
          <a:solidFill>
            <a:srgbClr val="1B3853"/>
          </a:solidFill>
          <a:ln w="12700">
            <a:solidFill>
              <a:srgbClr val="1B385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B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3867912"/>
            <a:ext cx="1828800" cy="393192"/>
          </a:xfrm>
          <a:prstGeom prst="roundRect">
            <a:avLst>
              <a:gd name="adj" fmla="val 46512"/>
            </a:avLst>
          </a:prstGeom>
          <a:solidFill>
            <a:srgbClr val="1B3853"/>
          </a:solidFill>
          <a:ln w="12700">
            <a:solidFill>
              <a:srgbClr val="1B385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9319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B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Medallion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867912"/>
            <a:ext cx="2423160" cy="393192"/>
          </a:xfrm>
          <a:prstGeom prst="roundRect">
            <a:avLst>
              <a:gd name="adj" fmla="val 46512"/>
            </a:avLst>
          </a:prstGeom>
          <a:solidFill>
            <a:srgbClr val="1B3853"/>
          </a:solidFill>
          <a:ln w="12700">
            <a:solidFill>
              <a:srgbClr val="1B385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9319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B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78624" y="3867912"/>
            <a:ext cx="1645920" cy="393192"/>
          </a:xfrm>
          <a:prstGeom prst="roundRect">
            <a:avLst>
              <a:gd name="adj" fmla="val 46512"/>
            </a:avLst>
          </a:prstGeom>
          <a:solidFill>
            <a:srgbClr val="1B3853"/>
          </a:solidFill>
          <a:ln w="12700">
            <a:solidFill>
              <a:srgbClr val="1B385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70064" y="39319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EB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66960" y="0"/>
            <a:ext cx="2221992" cy="6858000"/>
          </a:xfrm>
          <a:prstGeom prst="rect">
            <a:avLst/>
          </a:prstGeom>
          <a:solidFill>
            <a:srgbClr val="11314B"/>
          </a:solidFill>
          <a:ln w="12700">
            <a:solidFill>
              <a:srgbClr val="11314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9880" y="1005840"/>
            <a:ext cx="566928" cy="4572000"/>
          </a:xfrm>
          <a:prstGeom prst="rect">
            <a:avLst/>
          </a:prstGeom>
          <a:solidFill>
            <a:srgbClr val="E9B44C"/>
          </a:solidFill>
          <a:ln w="12700">
            <a:solidFill>
              <a:srgbClr val="E9B44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 +  ERP    →    BRONZE  →  SILVER  →  GOLD  → 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CONTEXTO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reto: convertir dos sistemas en una única visión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ficticia CicloNova · CRM + ERP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747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65960"/>
            <a:ext cx="73152" cy="2651760"/>
          </a:xfrm>
          <a:prstGeom prst="rect">
            <a:avLst/>
          </a:prstGeom>
          <a:solidFill>
            <a:srgbClr val="BF7642"/>
          </a:solidFill>
          <a:ln w="12700">
            <a:solidFill>
              <a:srgbClr val="BF76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85416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Situación inicial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2642616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distribuida en seis archivos CSV de dos sistemas, sin una vista analítica común.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4747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965960"/>
            <a:ext cx="73152" cy="2651760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85416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72000" y="2642616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Integrar, depurar y organizar clientes, productos y ventas con controles de calidad.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4747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965960"/>
            <a:ext cx="73152" cy="2651760"/>
          </a:xfrm>
          <a:prstGeom prst="rect">
            <a:avLst/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185416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75320" y="2642616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Data Warehouse local y un dashboard interactivo que responden a preguntas de negocio.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Herramientas: SQL Server · T-SQL · SQL Server Agent · Power BI Desktop · GitHub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ORIGEN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archivos CSV · Dos sistemas de negocio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 íntegra de los datos originales en la capa Bronze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52395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47088"/>
            <a:ext cx="100584" cy="960120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10512" y="1975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2029968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18.494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044952"/>
            <a:ext cx="52395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044952"/>
            <a:ext cx="100584" cy="960120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191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10512" y="31729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/ versiones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0" y="322783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4242816"/>
            <a:ext cx="52395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42816"/>
            <a:ext cx="100584" cy="960120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10512" y="43708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de venta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37760" y="4425696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60.398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92240" y="1847088"/>
            <a:ext cx="52395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847088"/>
            <a:ext cx="100584" cy="960120"/>
          </a:xfrm>
          <a:prstGeom prst="rect">
            <a:avLst/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9128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25512" y="1975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complementarios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652760" y="2029968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18.484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492240" y="3044952"/>
            <a:ext cx="52395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044952"/>
            <a:ext cx="100584" cy="960120"/>
          </a:xfrm>
          <a:prstGeom prst="rect">
            <a:avLst/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9128" y="3191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25512" y="31729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Localizaciones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652760" y="322783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18.484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492240" y="4242816"/>
            <a:ext cx="5239512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242816"/>
            <a:ext cx="100584" cy="960120"/>
          </a:xfrm>
          <a:prstGeom prst="rect">
            <a:avLst/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25512" y="43708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652760" y="4425696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795528" y="58978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fuentes de datos  →  6 tablas Bronze  →  6 tablas Silver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Medallion: de datos originales a información de negocio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y Silver son tablas físicas; Gold se expone mediante vistas SQL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2139696"/>
            <a:ext cx="2075688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2139696"/>
            <a:ext cx="2075688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57860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+ ERP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21208" y="299923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14600" y="2926080"/>
            <a:ext cx="228600" cy="0"/>
          </a:xfrm>
          <a:prstGeom prst="line">
            <a:avLst/>
          </a:prstGeom>
          <a:noFill/>
          <a:ln w="31750">
            <a:solidFill>
              <a:srgbClr val="168BF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07208" y="2139696"/>
            <a:ext cx="2075688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2139696"/>
            <a:ext cx="2075688" cy="118872"/>
          </a:xfrm>
          <a:prstGeom prst="rect">
            <a:avLst/>
          </a:prstGeom>
          <a:solidFill>
            <a:srgbClr val="BF7642"/>
          </a:solidFill>
          <a:ln w="12700">
            <a:solidFill>
              <a:srgbClr val="BF764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257860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898648" y="299923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tablas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92040" y="2926080"/>
            <a:ext cx="228600" cy="0"/>
          </a:xfrm>
          <a:prstGeom prst="line">
            <a:avLst/>
          </a:prstGeom>
          <a:noFill/>
          <a:ln w="31750">
            <a:solidFill>
              <a:srgbClr val="168BF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84648" y="2139696"/>
            <a:ext cx="2075688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139696"/>
            <a:ext cx="2075688" cy="118872"/>
          </a:xfrm>
          <a:prstGeom prst="rect">
            <a:avLst/>
          </a:prstGeom>
          <a:solidFill>
            <a:srgbClr val="8695A7"/>
          </a:solidFill>
          <a:ln w="12700">
            <a:solidFill>
              <a:srgbClr val="8695A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4376" y="257860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276088" y="299923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tablas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69480" y="2926080"/>
            <a:ext cx="228600" cy="0"/>
          </a:xfrm>
          <a:prstGeom prst="line">
            <a:avLst/>
          </a:prstGeom>
          <a:noFill/>
          <a:ln w="31750">
            <a:solidFill>
              <a:srgbClr val="168BF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62088" y="2139696"/>
            <a:ext cx="2075688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2139696"/>
            <a:ext cx="2075688" cy="118872"/>
          </a:xfrm>
          <a:prstGeom prst="rect">
            <a:avLst/>
          </a:prstGeom>
          <a:solidFill>
            <a:srgbClr val="E9B44C"/>
          </a:solidFill>
          <a:ln w="12700">
            <a:solidFill>
              <a:srgbClr val="E9B44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71816" y="257860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653528" y="299923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vistas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46920" y="2926080"/>
            <a:ext cx="228600" cy="0"/>
          </a:xfrm>
          <a:prstGeom prst="line">
            <a:avLst/>
          </a:prstGeom>
          <a:noFill/>
          <a:ln w="31750">
            <a:solidFill>
              <a:srgbClr val="168BF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39528" y="2139696"/>
            <a:ext cx="2075688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9528" y="2139696"/>
            <a:ext cx="2075688" cy="118872"/>
          </a:xfrm>
          <a:prstGeom prst="rect">
            <a:avLst/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49256" y="257860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0030968" y="2999232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130552" y="4498848"/>
            <a:ext cx="7927848" cy="960120"/>
          </a:xfrm>
          <a:prstGeom prst="roundRect">
            <a:avLst>
              <a:gd name="adj" fmla="val 13333"/>
            </a:avLst>
          </a:prstGeom>
          <a:solidFill>
            <a:srgbClr val="E4F2FF"/>
          </a:solidFill>
          <a:ln w="12700">
            <a:solidFill>
              <a:srgbClr val="E4F2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470916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Agent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0" y="4745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06:00 · carga Bronze → carga Silver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377440" y="58247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Procedimientos: bronze.load_bronze · silver.load_silver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TRANSFORMACIÓN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Silver: limpieza, estandarización y validación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fiables antes de construir el modelo analítico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523951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18.484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2834640" y="222199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depurados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3951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8412480" y="222199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Versiones de producto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523951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B8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295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2834640" y="377647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vigentes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63640" y="3474720"/>
            <a:ext cx="5239512" cy="130759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57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60.398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8412480" y="377647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de venta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04672" y="5321808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identificaron 19 ventas sin fecha de pedido y se corrigieron inconsistencias de cantidades e importes.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MODELO DIMENSIONAL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Gold: modelo en estrella para el análisis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Granularidad de fact_sales: una línea de pedido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15968" y="2532888"/>
            <a:ext cx="3611880" cy="1417320"/>
          </a:xfrm>
          <a:prstGeom prst="roundRect">
            <a:avLst>
              <a:gd name="adj" fmla="val 10323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862072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gold.fact_sales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31520" y="2532888"/>
            <a:ext cx="287121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843784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gold.dim_customers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586216" y="2532888"/>
            <a:ext cx="2871216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3376" y="2843784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gold.dim_products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11880" y="3246120"/>
            <a:ext cx="676656" cy="0"/>
          </a:xfrm>
          <a:prstGeom prst="line">
            <a:avLst/>
          </a:prstGeom>
          <a:noFill/>
          <a:ln w="31750">
            <a:solidFill>
              <a:srgbClr val="168BF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77072" y="3246120"/>
            <a:ext cx="-621792" cy="0"/>
          </a:xfrm>
          <a:prstGeom prst="line">
            <a:avLst/>
          </a:prstGeom>
          <a:noFill/>
          <a:ln w="31750">
            <a:solidFill>
              <a:srgbClr val="168BF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4215384"/>
            <a:ext cx="2651760" cy="393192"/>
          </a:xfrm>
          <a:prstGeom prst="roundRect">
            <a:avLst>
              <a:gd name="adj" fmla="val 46512"/>
            </a:avLst>
          </a:prstGeom>
          <a:solidFill>
            <a:srgbClr val="E3F2FE"/>
          </a:solidFill>
          <a:ln w="12700">
            <a:solidFill>
              <a:srgbClr val="E3F2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793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18.484 clientes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0288" y="4215384"/>
            <a:ext cx="3063240" cy="393192"/>
          </a:xfrm>
          <a:prstGeom prst="roundRect">
            <a:avLst>
              <a:gd name="adj" fmla="val 46512"/>
            </a:avLst>
          </a:prstGeom>
          <a:solidFill>
            <a:srgbClr val="FFF0CF"/>
          </a:solidFill>
          <a:ln w="12700">
            <a:solidFill>
              <a:srgbClr val="FFF0C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4279392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60.398 líneas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22792" y="4215384"/>
            <a:ext cx="2651760" cy="393192"/>
          </a:xfrm>
          <a:prstGeom prst="roundRect">
            <a:avLst>
              <a:gd name="adj" fmla="val 46512"/>
            </a:avLst>
          </a:prstGeom>
          <a:solidFill>
            <a:srgbClr val="E3F2FE"/>
          </a:solidFill>
          <a:ln w="12700">
            <a:solidFill>
              <a:srgbClr val="E3F2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4232" y="42793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5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295 productos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37667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1:N activas en Power BI · Filtro unidireccional desde las dimensiones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CALIDAD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verificables y limitaciones documentadas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confianza en los indicadores comienza en SQL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3465576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65960"/>
            <a:ext cx="73152" cy="26517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85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incoherencias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642616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líneas Gold con importes nulos, no positivos o distintos de cantidad × precio.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1688" y="1965960"/>
            <a:ext cx="3465576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965960"/>
            <a:ext cx="73152" cy="2651760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185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fechas nulas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90288" y="2642616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ventas sin fecha de pedido participan en los KPI generales, pero no en el análisis anual.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465576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965960"/>
            <a:ext cx="73152" cy="2651760"/>
          </a:xfrm>
          <a:prstGeom prst="rect">
            <a:avLst/>
          </a:prstGeom>
          <a:solidFill>
            <a:srgbClr val="E9B44C"/>
          </a:solidFill>
          <a:ln w="12700">
            <a:solidFill>
              <a:srgbClr val="E9B44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185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pedales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75320" y="2642616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con código CO_PE sin categoría correspondiente en el ERP.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0704" y="5440680"/>
            <a:ext cx="10149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documentación diferencia incidencias conocidas de errores corregidos.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OPERACIÓN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diaria con SQL Server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«DWH - Carga diaria» programado a las 06:00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4937760" cy="3502152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1488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21579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bronze.load_bronze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108960" y="2788920"/>
            <a:ext cx="0" cy="502920"/>
          </a:xfrm>
          <a:prstGeom prst="line">
            <a:avLst/>
          </a:prstGeom>
          <a:noFill/>
          <a:ln w="31750">
            <a:solidFill>
              <a:srgbClr val="12B8A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78408" y="34290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B8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0020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silver.load_silver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8408" y="4325112"/>
            <a:ext cx="4389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paso 2 solo se inicia si el paso 1 termina correctamente.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97880" y="1828800"/>
            <a:ext cx="5596128" cy="3502152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pic>
        <p:nvPicPr>
          <p:cNvPr id="17" name="Image 0" descr="/mnt/data/F010_006_Historial_Job_Carga_Diaria(2)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1965960"/>
            <a:ext cx="5394960" cy="2834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08192" y="49469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de ejecución: ambos pasos correctos (24/10/2026)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RESULTADOS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de negocio contrastados en SQL y Power BI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globales del conjunto de datos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239512" cy="1335024"/>
          </a:xfrm>
          <a:prstGeom prst="roundRect">
            <a:avLst>
              <a:gd name="adj" fmla="val 1027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29968"/>
            <a:ext cx="4700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29.356.250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0976" y="2743200"/>
            <a:ext cx="4608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totales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36792" y="1874520"/>
            <a:ext cx="5239512" cy="1335024"/>
          </a:xfrm>
          <a:prstGeom prst="roundRect">
            <a:avLst>
              <a:gd name="adj" fmla="val 1027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029968"/>
            <a:ext cx="4700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60.423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74536" y="2743200"/>
            <a:ext cx="4608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Unidades vendidas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3447288"/>
            <a:ext cx="5239512" cy="1335024"/>
          </a:xfrm>
          <a:prstGeom prst="roundRect">
            <a:avLst>
              <a:gd name="adj" fmla="val 1027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602736"/>
            <a:ext cx="4700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27.659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0976" y="4315968"/>
            <a:ext cx="4608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distintos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36792" y="3447288"/>
            <a:ext cx="5239512" cy="1335024"/>
          </a:xfrm>
          <a:prstGeom prst="roundRect">
            <a:avLst>
              <a:gd name="adj" fmla="val 1027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602736"/>
            <a:ext cx="4700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18.484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74536" y="4315968"/>
            <a:ext cx="4608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con compras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46120" y="5276088"/>
            <a:ext cx="5669280" cy="667512"/>
          </a:xfrm>
          <a:prstGeom prst="roundRect">
            <a:avLst>
              <a:gd name="adj" fmla="val 27397"/>
            </a:avLst>
          </a:prstGeom>
          <a:solidFill>
            <a:srgbClr val="E5F7F5"/>
          </a:solidFill>
          <a:ln w="12700">
            <a:solidFill>
              <a:srgbClr val="E5F7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5458968"/>
            <a:ext cx="5157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medio por pedido   1.061,36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HALLAZGOS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nos dicen los datos de CicloNova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de ventas y lectura del negocio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694944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249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926080" y="2322576"/>
            <a:ext cx="3840480" cy="256032"/>
          </a:xfrm>
          <a:prstGeom prst="roundRect">
            <a:avLst>
              <a:gd name="adj" fmla="val 35714"/>
            </a:avLst>
          </a:prstGeom>
          <a:solidFill>
            <a:srgbClr val="E7EDF3"/>
          </a:solidFill>
          <a:ln w="12700">
            <a:solidFill>
              <a:srgbClr val="E7EDF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322576"/>
            <a:ext cx="3704527" cy="256032"/>
          </a:xfrm>
          <a:prstGeom prst="roundRect">
            <a:avLst>
              <a:gd name="adj" fmla="val 35714"/>
            </a:avLst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249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96,46 %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926080" y="3291840"/>
            <a:ext cx="3840480" cy="256032"/>
          </a:xfrm>
          <a:prstGeom prst="roundRect">
            <a:avLst>
              <a:gd name="adj" fmla="val 35714"/>
            </a:avLst>
          </a:prstGeom>
          <a:solidFill>
            <a:srgbClr val="E7EDF3"/>
          </a:solidFill>
          <a:ln w="12700">
            <a:solidFill>
              <a:srgbClr val="E7EDF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3291840"/>
            <a:ext cx="109728" cy="256032"/>
          </a:xfrm>
          <a:prstGeom prst="roundRect">
            <a:avLst>
              <a:gd name="adj" fmla="val 83333"/>
            </a:avLst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3218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2,39 %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1879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926080" y="4261104"/>
            <a:ext cx="3840480" cy="256032"/>
          </a:xfrm>
          <a:prstGeom prst="roundRect">
            <a:avLst>
              <a:gd name="adj" fmla="val 35714"/>
            </a:avLst>
          </a:prstGeom>
          <a:solidFill>
            <a:srgbClr val="E7EDF3"/>
          </a:solidFill>
          <a:ln w="12700">
            <a:solidFill>
              <a:srgbClr val="E7EDF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4261104"/>
            <a:ext cx="109728" cy="256032"/>
          </a:xfrm>
          <a:prstGeom prst="roundRect">
            <a:avLst>
              <a:gd name="adj" fmla="val 83333"/>
            </a:avLst>
          </a:prstGeom>
          <a:solidFill>
            <a:srgbClr val="E9B44C"/>
          </a:solidFill>
          <a:ln w="12700">
            <a:solidFill>
              <a:srgbClr val="E9B44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1,16 %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01000" y="1828800"/>
            <a:ext cx="3429000" cy="3547872"/>
          </a:xfrm>
          <a:prstGeom prst="roundRect">
            <a:avLst>
              <a:gd name="adj" fmla="val 3467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286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02752" y="2825496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1.348,64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302752" y="351129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medio por pedido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" y="56784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2010 y 2014 son períodos parciales: su comparación anual requiere cautela.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VISUALIZACIÓN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Dashboard en Power BI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por año, país y categoría con cinco medidas DAX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1764792"/>
            <a:ext cx="10972800" cy="4224528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pic>
        <p:nvPicPr>
          <p:cNvPr id="10" name="Image 0" descr="/mnt/data/FPBI_016_Dashboard_Final(1)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10716768" cy="3986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1832" y="60624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KPI · 6 gráficos · 3 segmentadores · botón Limpiar Filtros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DOCUMENTACIÓN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reproducible y documentado en GitHub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Arquitectura, linaje, modelo, catálogo, código y evidencias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5528" y="1801368"/>
            <a:ext cx="10616184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9385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architecture.md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38344" y="19385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Medallion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551176"/>
            <a:ext cx="10616184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6883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data_lineage.md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38344" y="26883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Linaje CRM / ERP → Gold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528" y="3300984"/>
            <a:ext cx="10616184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4381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data_model.md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38344" y="34381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dimensional en estrella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" y="4050792"/>
            <a:ext cx="10616184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1879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data_catalog.md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38344" y="41879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y origen de datos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" y="4800600"/>
            <a:ext cx="10616184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9377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naming_conventions.md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38344" y="4937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nomenclatura</a:t>
            </a:r>
            <a:endParaRPr lang="en-US" sz="1500" dirty="0"/>
          </a:p>
        </p:txBody>
      </p:sp>
      <p:sp>
        <p:nvSpPr>
          <p:cNvPr id="24" name="Text 22">
            <a:hlinkClick r:id="rId1" tooltip=""/>
          </p:cNvPr>
          <p:cNvSpPr/>
          <p:nvPr/>
        </p:nvSpPr>
        <p:spPr>
          <a:xfrm>
            <a:off x="914400" y="591616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github.com/rafa7mad/IFCD0078_Bloque_02-Data_Engineering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68BFA"/>
          </a:solidFill>
          <a:ln w="12700">
            <a:solidFill>
              <a:srgbClr val="168B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ENTREGA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y cierre del proyecto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344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 de las instrucciones de entrega del curso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6510528"/>
            <a:ext cx="10972800" cy="9144"/>
          </a:xfrm>
          <a:prstGeom prst="rect">
            <a:avLst/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74536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 |  DATA ENGINEERING + BUSINESS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10707624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039112"/>
            <a:ext cx="292608" cy="292608"/>
          </a:xfrm>
          <a:prstGeom prst="roundRect">
            <a:avLst>
              <a:gd name="adj" fmla="val 46875"/>
            </a:avLst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57400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27048" y="1929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 de GitHub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65192" y="1929384"/>
            <a:ext cx="6153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completo, README, documentación y evidencias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2752344"/>
            <a:ext cx="10707624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2971800"/>
            <a:ext cx="292608" cy="292608"/>
          </a:xfrm>
          <a:prstGeom prst="roundRect">
            <a:avLst>
              <a:gd name="adj" fmla="val 46875"/>
            </a:avLst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2990088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27048" y="2862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Power BI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65192" y="2862072"/>
            <a:ext cx="6153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CicloNova_Dashboard.pbix descargado y abierto fuera de la VM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" y="3685032"/>
            <a:ext cx="10707624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3904488"/>
            <a:ext cx="292608" cy="292608"/>
          </a:xfrm>
          <a:prstGeom prst="roundRect">
            <a:avLst>
              <a:gd name="adj" fmla="val 46875"/>
            </a:avLst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3922776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7048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SQL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65192" y="3794760"/>
            <a:ext cx="6153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Creación, cargas, vistas Gold, pruebas y automatización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4617720"/>
            <a:ext cx="10707624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4837176"/>
            <a:ext cx="292608" cy="292608"/>
          </a:xfrm>
          <a:prstGeom prst="roundRect">
            <a:avLst>
              <a:gd name="adj" fmla="val 46875"/>
            </a:avLst>
          </a:prstGeom>
          <a:solidFill>
            <a:srgbClr val="12B8AC"/>
          </a:solidFill>
          <a:ln w="12700">
            <a:solidFill>
              <a:srgbClr val="12B8A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4855464"/>
            <a:ext cx="210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27048" y="4727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PowerPoint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965192" y="4727448"/>
            <a:ext cx="6153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276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visual del proceso y de sus resultados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68880" y="5824728"/>
            <a:ext cx="7278624" cy="384048"/>
          </a:xfrm>
          <a:prstGeom prst="roundRect">
            <a:avLst>
              <a:gd name="adj" fmla="val 28571"/>
            </a:avLst>
          </a:prstGeom>
          <a:solidFill>
            <a:srgbClr val="E6F7F4"/>
          </a:solidFill>
          <a:ln w="12700">
            <a:solidFill>
              <a:srgbClr val="E6F7F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58978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CICLONOVA · Proyecto final completado y validado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CicloNova — Data Warehouse y Sales Dashboard</dc:title>
  <dc:subject>Presentación de entrega del proyecto CicloNova</dc:subject>
  <dc:creator>Proyecto CicloNova</dc:creator>
  <cp:lastModifiedBy>Proyecto CicloNova</cp:lastModifiedBy>
  <cp:revision>1</cp:revision>
  <dcterms:created xsi:type="dcterms:W3CDTF">2026-10-25T20:40:01Z</dcterms:created>
  <dcterms:modified xsi:type="dcterms:W3CDTF">2026-10-25T20:40:01Z</dcterms:modified>
</cp:coreProperties>
</file>